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5000"/>
              </a:lnSpc>
              <a:spcAft>
                <a:spcPts val="400"/>
              </a:spcAft>
            </a:pPr>
            <a:endParaRPr lang="en-US" dirty="0"/>
          </a:p>
          <a:p>
            <a:pPr marL="285750" indent="-285750" algn="just">
              <a:lnSpc>
                <a:spcPct val="13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sz="1800" b="0">
                <a:solidFill>
                  <a:srgbClr val="1F3864"/>
                </a:solidFill>
                <a:latin typeface="Arial"/>
              </a:rPr>
              <a:t>SIH26168</a:t>
            </a:r>
          </a:p>
          <a:p>
            <a:pPr marL="285750" indent="-285750" algn="just">
              <a:lnSpc>
                <a:spcPct val="13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 </a:t>
            </a:r>
            <a:r>
              <a:rPr sz="1800" b="0">
                <a:solidFill>
                  <a:srgbClr val="1F3864"/>
                </a:solidFill>
                <a:latin typeface="Arial"/>
              </a:rPr>
              <a:t>AI-ML based Intelligent Dead Reckoning system for seamless navigation</a:t>
            </a:r>
          </a:p>
          <a:p>
            <a:pPr marL="285750" indent="-285750" algn="just">
              <a:lnSpc>
                <a:spcPct val="13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Theme – </a:t>
            </a:r>
            <a:r>
              <a:rPr sz="1800" b="0">
                <a:solidFill>
                  <a:srgbClr val="1F3864"/>
                </a:solidFill>
                <a:latin typeface="Arial"/>
              </a:rPr>
              <a:t>Miscellaneous</a:t>
            </a:r>
          </a:p>
          <a:p>
            <a:pPr marL="285750" indent="-285750" algn="just">
              <a:lnSpc>
                <a:spcPct val="13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PS Category – </a:t>
            </a:r>
            <a:r>
              <a:rPr sz="1800" b="0">
                <a:solidFill>
                  <a:srgbClr val="1F3864"/>
                </a:solidFill>
                <a:latin typeface="Arial"/>
              </a:rPr>
              <a:t>Software</a:t>
            </a:r>
          </a:p>
          <a:p>
            <a:pPr marL="285750" indent="-285750" algn="just">
              <a:lnSpc>
                <a:spcPct val="13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Team ID – </a:t>
            </a:r>
            <a:r>
              <a:rPr sz="1800" b="0">
                <a:solidFill>
                  <a:srgbClr val="C0392B"/>
                </a:solidFill>
                <a:latin typeface="Arial"/>
              </a:rPr>
              <a:t>&lt;Team ID from portal&gt;</a:t>
            </a:r>
          </a:p>
          <a:p>
            <a:pPr marL="285750" indent="-285750" algn="just">
              <a:lnSpc>
                <a:spcPct val="13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 – </a:t>
            </a:r>
            <a:r>
              <a:rPr sz="1800" b="0">
                <a:solidFill>
                  <a:srgbClr val="1F3864"/>
                </a:solidFill>
                <a:latin typeface="Arial"/>
              </a:rPr>
              <a:t>KANABI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365760" y="5989320"/>
            <a:ext cx="58521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lnSpc>
                <a:spcPct val="105000"/>
              </a:lnSpc>
              <a:spcAft>
                <a:spcPts val="300"/>
              </a:spcAft>
              <a:buNone/>
            </a:pPr>
            <a:r>
              <a:rPr sz="1200" b="0" i="1">
                <a:solidFill>
                  <a:srgbClr val="555F6D"/>
                </a:solidFill>
                <a:latin typeface="Arial"/>
              </a:rPr>
              <a:t>Organisation: Indian Space Research Organisation (ISRO)  ·  Dept. of Space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00200" y="0"/>
            <a:ext cx="7315200" cy="1143000"/>
          </a:xfrm>
        </p:spPr>
        <p:txBody>
          <a:bodyPr/>
          <a:lstStyle/>
          <a:p>
            <a:pPr eaLnBrk="1" hangingPunct="1"/>
            <a:r>
              <a:rPr lang="en-US" sz="2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IDEA: Intelligent Dead Reckoning (IDR) + GNSS Fusion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18288" rIns="18288" wrap="none"/>
          <a:lstStyle/>
          <a:p>
            <a:pPr algn="ctr"/>
            <a:r>
              <a:rPr lang="en-US" dirty="0" b="1" sz="1400">
                <a:solidFill>
                  <a:srgbClr val="1F3864"/>
                </a:solidFill>
                <a:latin typeface="Arial"/>
              </a:rPr>
              <a:t>KANABI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ectangle 15361"/>
          <p:cNvSpPr/>
          <p:nvPr/>
        </p:nvSpPr>
        <p:spPr>
          <a:xfrm>
            <a:off x="320040" y="1143000"/>
            <a:ext cx="63093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l">
              <a:lnSpc>
                <a:spcPct val="105000"/>
              </a:lnSpc>
              <a:spcAft>
                <a:spcPts val="300"/>
              </a:spcAft>
              <a:buNone/>
            </a:pPr>
            <a:r>
              <a:rPr sz="1400" b="1" i="0">
                <a:solidFill>
                  <a:srgbClr val="E86A1E"/>
                </a:solidFill>
                <a:latin typeface="Arial"/>
              </a:rPr>
              <a:t>Proposed solution</a:t>
            </a:r>
          </a:p>
        </p:txBody>
      </p:sp>
      <p:sp>
        <p:nvSpPr>
          <p:cNvPr id="15363" name="Rectangle 15362"/>
          <p:cNvSpPr/>
          <p:nvPr/>
        </p:nvSpPr>
        <p:spPr>
          <a:xfrm>
            <a:off x="320040" y="1417320"/>
            <a:ext cx="6309360" cy="2011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 marL="228600" indent="-228600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sz="1150" b="0" i="0">
                <a:solidFill>
                  <a:srgbClr val="1A1A1A"/>
                </a:solidFill>
                <a:latin typeface="Arial"/>
              </a:rPr>
              <a:t>An edge-deployable engine + Android app that keeps lane-level position when GNSS is lost (tunnels, underpasses, parking, urban canyons, jamming) using only the phone's accelerometer, gyroscope, magnetometer and an offline OpenStreetMap graph. No OBD-II, no wheel sensor, no fixed mount.</a:t>
            </a:r>
          </a:p>
          <a:p>
            <a:pPr algn="l" marL="228600" indent="-228600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sz="1150" b="0" i="0">
                <a:solidFill>
                  <a:srgbClr val="1A1A1A"/>
                </a:solidFill>
                <a:latin typeface="Arial"/>
              </a:rPr>
              <a:t>Hybrid AI + physics pipeline: in-vehicle alignment &amp; calibration → AI speed/vibration filter (1-D CNN) → bias-corrected INS → map-matching with non-holonomic constraints → AI-augmented error-state Kalman fusion with instant GNSS-deficit switching.</a:t>
            </a:r>
          </a:p>
          <a:p>
            <a:pPr algn="l" marL="228600" indent="-228600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sz="1150" b="0" i="0">
                <a:solidFill>
                  <a:srgbClr val="1A1A1A"/>
                </a:solidFill>
                <a:latin typeface="Arial"/>
              </a:rPr>
              <a:t>Training happens on desktop (IO-VNBD); the engine runs on the phone at sensor rate (pure Dart, no server) and the same core targets the edge engine at ~200 Hz for external/FOG IMUs; the 32 k-param CNN ships via ONNX/TFLite.</a:t>
            </a:r>
          </a:p>
        </p:txBody>
      </p:sp>
      <p:sp>
        <p:nvSpPr>
          <p:cNvPr id="15364" name="Rectangle 15363"/>
          <p:cNvSpPr/>
          <p:nvPr/>
        </p:nvSpPr>
        <p:spPr>
          <a:xfrm>
            <a:off x="320040" y="3520440"/>
            <a:ext cx="63093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l">
              <a:lnSpc>
                <a:spcPct val="105000"/>
              </a:lnSpc>
              <a:spcAft>
                <a:spcPts val="300"/>
              </a:spcAft>
              <a:buNone/>
            </a:pPr>
            <a:r>
              <a:rPr sz="1400" b="1" i="0">
                <a:solidFill>
                  <a:srgbClr val="E86A1E"/>
                </a:solidFill>
                <a:latin typeface="Arial"/>
              </a:rPr>
              <a:t>How it addresses the problem</a:t>
            </a:r>
          </a:p>
        </p:txBody>
      </p:sp>
      <p:sp>
        <p:nvSpPr>
          <p:cNvPr id="15365" name="Rectangle 15364"/>
          <p:cNvSpPr/>
          <p:nvPr/>
        </p:nvSpPr>
        <p:spPr>
          <a:xfrm>
            <a:off x="320040" y="3794760"/>
            <a:ext cx="630936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 marL="228600" indent="-228600">
              <a:lnSpc>
                <a:spcPct val="105000"/>
              </a:lnSpc>
              <a:spcAft>
                <a:spcPts val="300"/>
              </a:spcAft>
              <a:buFont typeface="Arial"/>
              <a:buChar char="•"/>
            </a:pPr>
            <a:r>
              <a:rPr sz="1150" b="0" i="0">
                <a:solidFill>
                  <a:srgbClr val="1A1A1A"/>
                </a:solidFill>
                <a:latin typeface="Arial"/>
              </a:rPr>
              <a:t>GNSS drop → seamless switch to inertial tracking within ms; GNSS return → re-converge to GNSS+INS.</a:t>
            </a:r>
          </a:p>
          <a:p>
            <a:pPr algn="l" marL="228600" indent="-228600">
              <a:lnSpc>
                <a:spcPct val="105000"/>
              </a:lnSpc>
              <a:spcAft>
                <a:spcPts val="300"/>
              </a:spcAft>
              <a:buFont typeface="Arial"/>
              <a:buChar char="•"/>
            </a:pPr>
            <a:r>
              <a:rPr sz="1150" b="0" i="0">
                <a:solidFill>
                  <a:srgbClr val="1A1A1A"/>
                </a:solidFill>
                <a:latin typeface="Arial"/>
              </a:rPr>
              <a:t>Speed without OBD: last-GNSS speed anchor + learned IMU corrections; vibration, potholes and idling filtered out.</a:t>
            </a:r>
          </a:p>
          <a:p>
            <a:pPr algn="l" marL="228600" indent="-228600">
              <a:lnSpc>
                <a:spcPct val="105000"/>
              </a:lnSpc>
              <a:spcAft>
                <a:spcPts val="300"/>
              </a:spcAft>
              <a:buFont typeface="Arial"/>
              <a:buChar char="•"/>
            </a:pPr>
            <a:r>
              <a:rPr sz="1150" b="0" i="0">
                <a:solidFill>
                  <a:srgbClr val="1A1A1A"/>
                </a:solidFill>
                <a:latin typeface="Arial"/>
              </a:rPr>
              <a:t>Heading drift (the real killer of phone DR) is cancelled by snapping to the road graph on every edge.</a:t>
            </a:r>
          </a:p>
        </p:txBody>
      </p:sp>
      <p:sp>
        <p:nvSpPr>
          <p:cNvPr id="15366" name="Rectangle 15365"/>
          <p:cNvSpPr/>
          <p:nvPr/>
        </p:nvSpPr>
        <p:spPr>
          <a:xfrm>
            <a:off x="320040" y="5029200"/>
            <a:ext cx="63093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l">
              <a:lnSpc>
                <a:spcPct val="105000"/>
              </a:lnSpc>
              <a:spcAft>
                <a:spcPts val="300"/>
              </a:spcAft>
              <a:buNone/>
            </a:pPr>
            <a:r>
              <a:rPr sz="1400" b="1" i="0">
                <a:solidFill>
                  <a:srgbClr val="E86A1E"/>
                </a:solidFill>
                <a:latin typeface="Arial"/>
              </a:rPr>
              <a:t>Innovation and uniqueness</a:t>
            </a:r>
          </a:p>
        </p:txBody>
      </p:sp>
      <p:sp>
        <p:nvSpPr>
          <p:cNvPr id="15367" name="Rectangle 15366"/>
          <p:cNvSpPr/>
          <p:nvPr/>
        </p:nvSpPr>
        <p:spPr>
          <a:xfrm>
            <a:off x="320040" y="5303520"/>
            <a:ext cx="6309360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 marL="228600" indent="-228600">
              <a:lnSpc>
                <a:spcPct val="105000"/>
              </a:lnSpc>
              <a:spcAft>
                <a:spcPts val="300"/>
              </a:spcAft>
              <a:buFont typeface="Arial"/>
              <a:buChar char="•"/>
            </a:pPr>
            <a:r>
              <a:rPr sz="1150" b="0" i="0">
                <a:solidFill>
                  <a:srgbClr val="1A1A1A"/>
                </a:solidFill>
                <a:latin typeface="Arial"/>
              </a:rPr>
              <a:t>Data-driven design: on IO-VNBD we measured that speed holds to 1–2 % but gyro heading drifts 19–28° in 30–60 s, so we spend the AI budget where the error really is.</a:t>
            </a:r>
          </a:p>
          <a:p>
            <a:pPr algn="l" marL="228600" indent="-228600">
              <a:lnSpc>
                <a:spcPct val="105000"/>
              </a:lnSpc>
              <a:spcAft>
                <a:spcPts val="300"/>
              </a:spcAft>
              <a:buFont typeface="Arial"/>
              <a:buChar char="•"/>
            </a:pPr>
            <a:r>
              <a:rPr sz="1150" b="0" i="0">
                <a:solidFill>
                  <a:srgbClr val="1A1A1A"/>
                </a:solidFill>
                <a:latin typeface="Arial"/>
              </a:rPr>
              <a:t>Mount-agnostic calibration (gravity + PCA of driving acceleration) and one shared core engine for phone and edge/FOG sensors.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6812280" y="1188720"/>
            <a:ext cx="5074920" cy="512064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C9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9" name="Rectangle 15368"/>
          <p:cNvSpPr/>
          <p:nvPr/>
        </p:nvSpPr>
        <p:spPr>
          <a:xfrm>
            <a:off x="6903720" y="1234440"/>
            <a:ext cx="48920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l">
              <a:lnSpc>
                <a:spcPct val="105000"/>
              </a:lnSpc>
              <a:spcAft>
                <a:spcPts val="300"/>
              </a:spcAft>
              <a:buNone/>
            </a:pPr>
            <a:r>
              <a:rPr sz="1150" b="1" i="0">
                <a:solidFill>
                  <a:srgbClr val="1F3864"/>
                </a:solidFill>
                <a:latin typeface="Arial"/>
              </a:rPr>
              <a:t>Preliminary result on IO-VNBD (drive vfa02): 1 km GNSS blackout, 520° of turning</a:t>
            </a:r>
          </a:p>
        </p:txBody>
      </p:sp>
      <p:pic>
        <p:nvPicPr>
          <p:cNvPr id="15370" name="Picture 15369" descr="mapmatch_1km_dem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3779" y="1572768"/>
            <a:ext cx="3931920" cy="3931920"/>
          </a:xfrm>
          <a:prstGeom prst="rect">
            <a:avLst/>
          </a:prstGeom>
        </p:spPr>
      </p:pic>
      <p:sp>
        <p:nvSpPr>
          <p:cNvPr id="15371" name="Rectangle 15370"/>
          <p:cNvSpPr/>
          <p:nvPr/>
        </p:nvSpPr>
        <p:spPr>
          <a:xfrm>
            <a:off x="6903720" y="5532120"/>
            <a:ext cx="489204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lnSpc>
                <a:spcPct val="105000"/>
              </a:lnSpc>
              <a:spcAft>
                <a:spcPts val="300"/>
              </a:spcAft>
              <a:buNone/>
            </a:pPr>
            <a:r>
              <a:rPr sz="1150" b="1" i="0">
                <a:solidFill>
                  <a:srgbClr val="C0392B"/>
                </a:solidFill>
                <a:latin typeface="Arial"/>
              </a:rPr>
              <a:t>Plain phone IMU drifts 76 % </a:t>
            </a:r>
            <a:r>
              <a:rPr sz="1150" b="0" i="0">
                <a:solidFill>
                  <a:srgbClr val="1A1A1A"/>
                </a:solidFill>
                <a:latin typeface="Arial"/>
              </a:rPr>
              <a:t>of distance; </a:t>
            </a:r>
            <a:r>
              <a:rPr sz="1150" b="1" i="0">
                <a:solidFill>
                  <a:srgbClr val="2E8B57"/>
                </a:solidFill>
                <a:latin typeface="Arial"/>
              </a:rPr>
              <a:t>our map-aided IDR finishes 2.5 % off </a:t>
            </a:r>
            <a:r>
              <a:rPr sz="1150" b="0" i="0">
                <a:solidFill>
                  <a:srgbClr val="1A1A1A"/>
                </a:solidFill>
                <a:latin typeface="Arial"/>
              </a:rPr>
              <a:t>and tracks the roundabout. Benchmark: &lt; 10 %.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00200" y="0"/>
            <a:ext cx="7315200" cy="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18288" rIns="18288" wrap="none"/>
          <a:lstStyle/>
          <a:p>
            <a:pPr algn="ctr"/>
            <a:r>
              <a:rPr lang="en-US" dirty="0" b="1" sz="1400">
                <a:solidFill>
                  <a:srgbClr val="1F3864"/>
                </a:solidFill>
                <a:latin typeface="Arial"/>
              </a:rPr>
              <a:t>KANABI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320040" y="1143000"/>
            <a:ext cx="365760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l">
              <a:lnSpc>
                <a:spcPct val="105000"/>
              </a:lnSpc>
              <a:spcAft>
                <a:spcPts val="300"/>
              </a:spcAft>
              <a:buNone/>
            </a:pPr>
            <a:r>
              <a:rPr sz="1400" b="1" i="0">
                <a:solidFill>
                  <a:srgbClr val="E86A1E"/>
                </a:solidFill>
                <a:latin typeface="Arial"/>
              </a:rPr>
              <a:t>Technologies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20040" y="1444752"/>
            <a:ext cx="1527048" cy="658368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 w="9525">
            <a:solidFill>
              <a:srgbClr val="C9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lnSpc>
                <a:spcPct val="105000"/>
              </a:lnSpc>
              <a:spcAft>
                <a:spcPts val="100"/>
              </a:spcAft>
              <a:buNone/>
            </a:pPr>
            <a:r>
              <a:rPr sz="1050" b="1" i="0">
                <a:solidFill>
                  <a:srgbClr val="1F3864"/>
                </a:solidFill>
                <a:latin typeface="Arial"/>
              </a:rPr>
              <a:t>Training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buNone/>
            </a:pPr>
            <a:r>
              <a:rPr sz="950" b="0" i="0">
                <a:solidFill>
                  <a:srgbClr val="1A1A1A"/>
                </a:solidFill>
                <a:latin typeface="Arial"/>
              </a:rPr>
              <a:t>Python · PyTorch · NumPy/SciPy · CatBoost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1920240" y="1444752"/>
            <a:ext cx="2990088" cy="658368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 w="9525">
            <a:solidFill>
              <a:srgbClr val="C9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lnSpc>
                <a:spcPct val="105000"/>
              </a:lnSpc>
              <a:spcAft>
                <a:spcPts val="100"/>
              </a:spcAft>
              <a:buNone/>
            </a:pPr>
            <a:r>
              <a:rPr sz="1050" b="1" i="0">
                <a:solidFill>
                  <a:srgbClr val="1F3864"/>
                </a:solidFill>
                <a:latin typeface="Arial"/>
              </a:rPr>
              <a:t>Models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buNone/>
            </a:pPr>
            <a:r>
              <a:rPr sz="950" b="0" i="0">
                <a:solidFill>
                  <a:srgbClr val="1A1A1A"/>
                </a:solidFill>
                <a:latin typeface="Arial"/>
              </a:rPr>
              <a:t>1-D CNN speed filter (32 k params) · LSTM IMU-error corrector · gated causal CNN Δv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983480" y="1444752"/>
            <a:ext cx="2715768" cy="658368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 w="9525">
            <a:solidFill>
              <a:srgbClr val="C9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lnSpc>
                <a:spcPct val="105000"/>
              </a:lnSpc>
              <a:spcAft>
                <a:spcPts val="100"/>
              </a:spcAft>
              <a:buNone/>
            </a:pPr>
            <a:r>
              <a:rPr sz="1050" b="1" i="0">
                <a:solidFill>
                  <a:srgbClr val="1F3864"/>
                </a:solidFill>
                <a:latin typeface="Arial"/>
              </a:rPr>
              <a:t>Estimation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buNone/>
            </a:pPr>
            <a:r>
              <a:rPr sz="950" b="0" i="0">
                <a:solidFill>
                  <a:srgbClr val="1A1A1A"/>
                </a:solidFill>
                <a:latin typeface="Arial"/>
              </a:rPr>
              <a:t>Error-state EKF/UKF · NHC &amp; ZUPT · HMM map-matching (Newson–Krumm)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7772400" y="1444752"/>
            <a:ext cx="1847088" cy="658368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 w="9525">
            <a:solidFill>
              <a:srgbClr val="C9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lnSpc>
                <a:spcPct val="105000"/>
              </a:lnSpc>
              <a:spcAft>
                <a:spcPts val="100"/>
              </a:spcAft>
              <a:buNone/>
            </a:pPr>
            <a:r>
              <a:rPr sz="1050" b="1" i="0">
                <a:solidFill>
                  <a:srgbClr val="1F3864"/>
                </a:solidFill>
                <a:latin typeface="Arial"/>
              </a:rPr>
              <a:t>Maps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buNone/>
            </a:pPr>
            <a:r>
              <a:rPr sz="950" b="0" i="0">
                <a:solidFill>
                  <a:srgbClr val="1A1A1A"/>
                </a:solidFill>
                <a:latin typeface="Arial"/>
              </a:rPr>
              <a:t>Offline OpenStreetMap graph (osmnx export, on-device)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9692640" y="1444752"/>
            <a:ext cx="2121408" cy="658368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 w="9525">
            <a:solidFill>
              <a:srgbClr val="C9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lnSpc>
                <a:spcPct val="105000"/>
              </a:lnSpc>
              <a:spcAft>
                <a:spcPts val="100"/>
              </a:spcAft>
              <a:buNone/>
            </a:pPr>
            <a:r>
              <a:rPr sz="1050" b="1" i="0">
                <a:solidFill>
                  <a:srgbClr val="1F3864"/>
                </a:solidFill>
                <a:latin typeface="Arial"/>
              </a:rPr>
              <a:t>Deployment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buNone/>
            </a:pPr>
            <a:r>
              <a:rPr sz="950" b="0" i="0">
                <a:solidFill>
                  <a:srgbClr val="1A1A1A"/>
                </a:solidFill>
                <a:latin typeface="Arial"/>
              </a:rPr>
              <a:t>ONNX → TFLite · Flutter/Android app · Python edge engine (200 Hz FOG IMU)</a:t>
            </a:r>
          </a:p>
        </p:txBody>
      </p:sp>
      <p:sp>
        <p:nvSpPr>
          <p:cNvPr id="17416" name="Rectangle 17415"/>
          <p:cNvSpPr/>
          <p:nvPr/>
        </p:nvSpPr>
        <p:spPr>
          <a:xfrm>
            <a:off x="320040" y="2212848"/>
            <a:ext cx="1143000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l">
              <a:lnSpc>
                <a:spcPct val="105000"/>
              </a:lnSpc>
              <a:spcAft>
                <a:spcPts val="300"/>
              </a:spcAft>
              <a:buNone/>
            </a:pPr>
            <a:r>
              <a:rPr sz="1400" b="1" i="0">
                <a:solidFill>
                  <a:srgbClr val="E86A1E"/>
                </a:solidFill>
                <a:latin typeface="Arial"/>
              </a:rPr>
              <a:t>Methodology: on-device pipeline (10 Hz on phone, ~200 Hz on edge engine)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320040" y="2542032"/>
            <a:ext cx="2130552" cy="155448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 tIns="82296" bIns="82296"/>
          <a:lstStyle/>
          <a:p>
            <a:pPr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1150" b="1" i="0">
                <a:solidFill>
                  <a:srgbClr val="FFFFFF"/>
                </a:solidFill>
                <a:latin typeface="Arial"/>
              </a:rPr>
              <a:t>1  Align &amp; calibrate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buNone/>
            </a:pPr>
            <a:r>
              <a:rPr sz="950" b="0" i="0">
                <a:solidFill>
                  <a:srgbClr val="FFFFFF"/>
                </a:solidFill>
                <a:latin typeface="Arial"/>
              </a:rPr>
              <a:t>Gravity → vertical axis; PCA of driving accel → forward axis. Phone-to-vehicle rotation + accel/gyro bias + compass offset from the pre-blackout window. Works on dash or holder.</a:t>
            </a:r>
          </a:p>
        </p:txBody>
      </p:sp>
      <p:sp>
        <p:nvSpPr>
          <p:cNvPr id="17418" name="Right Arrow 17417"/>
          <p:cNvSpPr/>
          <p:nvPr/>
        </p:nvSpPr>
        <p:spPr>
          <a:xfrm>
            <a:off x="2468880" y="3200400"/>
            <a:ext cx="146304" cy="237744"/>
          </a:xfrm>
          <a:prstGeom prst="rightArrow">
            <a:avLst/>
          </a:prstGeom>
          <a:solidFill>
            <a:srgbClr val="E8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2633472" y="2542032"/>
            <a:ext cx="2130552" cy="155448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 tIns="82296" bIns="82296"/>
          <a:lstStyle/>
          <a:p>
            <a:pPr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1150" b="1" i="0">
                <a:solidFill>
                  <a:srgbClr val="FFFFFF"/>
                </a:solidFill>
                <a:latin typeface="Arial"/>
              </a:rPr>
              <a:t>2  AI speed &amp; vibration filter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buNone/>
            </a:pPr>
            <a:r>
              <a:rPr sz="950" b="0" i="0">
                <a:solidFill>
                  <a:srgbClr val="FFFFFF"/>
                </a:solidFill>
                <a:latin typeface="Arial"/>
              </a:rPr>
              <a:t>Mount-invariant IMU features → 1-D CNN / causal Δv model. Rejects engine idle, potholes, bumps; forward speed without OBD-II.</a:t>
            </a:r>
          </a:p>
        </p:txBody>
      </p:sp>
      <p:sp>
        <p:nvSpPr>
          <p:cNvPr id="17420" name="Right Arrow 17419"/>
          <p:cNvSpPr/>
          <p:nvPr/>
        </p:nvSpPr>
        <p:spPr>
          <a:xfrm>
            <a:off x="4782312" y="3200400"/>
            <a:ext cx="146304" cy="237744"/>
          </a:xfrm>
          <a:prstGeom prst="rightArrow">
            <a:avLst/>
          </a:prstGeom>
          <a:solidFill>
            <a:srgbClr val="E8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ounded Rectangle 17420"/>
          <p:cNvSpPr/>
          <p:nvPr/>
        </p:nvSpPr>
        <p:spPr>
          <a:xfrm>
            <a:off x="4946904" y="2542032"/>
            <a:ext cx="2130552" cy="155448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 tIns="82296" bIns="82296"/>
          <a:lstStyle/>
          <a:p>
            <a:pPr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1150" b="1" i="0">
                <a:solidFill>
                  <a:srgbClr val="FFFFFF"/>
                </a:solidFill>
                <a:latin typeface="Arial"/>
              </a:rPr>
              <a:t>3  INS propagation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buNone/>
            </a:pPr>
            <a:r>
              <a:rPr sz="950" b="0" i="0">
                <a:solidFill>
                  <a:srgbClr val="FFFFFF"/>
                </a:solidFill>
                <a:latin typeface="Arial"/>
              </a:rPr>
              <a:t>Bias-corrected gyro heading + speed integrate position at 10 Hz. Speed anchored to last GNSS fix (within 1–2 % of oracle).</a:t>
            </a:r>
          </a:p>
        </p:txBody>
      </p:sp>
      <p:sp>
        <p:nvSpPr>
          <p:cNvPr id="17422" name="Right Arrow 17421"/>
          <p:cNvSpPr/>
          <p:nvPr/>
        </p:nvSpPr>
        <p:spPr>
          <a:xfrm>
            <a:off x="7095744" y="3200400"/>
            <a:ext cx="146304" cy="237744"/>
          </a:xfrm>
          <a:prstGeom prst="rightArrow">
            <a:avLst/>
          </a:prstGeom>
          <a:solidFill>
            <a:srgbClr val="E8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Rounded Rectangle 17422"/>
          <p:cNvSpPr/>
          <p:nvPr/>
        </p:nvSpPr>
        <p:spPr>
          <a:xfrm>
            <a:off x="7260336" y="2542032"/>
            <a:ext cx="2130552" cy="155448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 tIns="82296" bIns="82296"/>
          <a:lstStyle/>
          <a:p>
            <a:pPr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1150" b="1" i="0">
                <a:solidFill>
                  <a:srgbClr val="FFFFFF"/>
                </a:solidFill>
                <a:latin typeface="Arial"/>
              </a:rPr>
              <a:t>4  Map-match + NHC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buNone/>
            </a:pPr>
            <a:r>
              <a:rPr sz="950" b="0" i="0">
                <a:solidFill>
                  <a:srgbClr val="FFFFFF"/>
                </a:solidFill>
                <a:latin typeface="Arial"/>
              </a:rPr>
              <a:t>Odometry walks the offline OSM graph; gyro picks the branch at junctions; heading reset to road bearing. Zero lateral/vertical velocity pseudo-measurements.</a:t>
            </a:r>
          </a:p>
        </p:txBody>
      </p:sp>
      <p:sp>
        <p:nvSpPr>
          <p:cNvPr id="17424" name="Right Arrow 17423"/>
          <p:cNvSpPr/>
          <p:nvPr/>
        </p:nvSpPr>
        <p:spPr>
          <a:xfrm>
            <a:off x="9409176" y="3200400"/>
            <a:ext cx="146304" cy="237744"/>
          </a:xfrm>
          <a:prstGeom prst="rightArrow">
            <a:avLst/>
          </a:prstGeom>
          <a:solidFill>
            <a:srgbClr val="E8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Rounded Rectangle 17424"/>
          <p:cNvSpPr/>
          <p:nvPr/>
        </p:nvSpPr>
        <p:spPr>
          <a:xfrm>
            <a:off x="9573768" y="2542032"/>
            <a:ext cx="2130552" cy="1554480"/>
          </a:xfrm>
          <a:prstGeom prst="roundRect">
            <a:avLst>
              <a:gd name="adj" fmla="val 8000"/>
            </a:avLst>
          </a:prstGeom>
          <a:solidFill>
            <a:srgbClr val="E8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rIns="82296" tIns="82296" bIns="82296"/>
          <a:lstStyle/>
          <a:p>
            <a:pPr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1150" b="1" i="0">
                <a:solidFill>
                  <a:srgbClr val="FFFFFF"/>
                </a:solidFill>
                <a:latin typeface="Arial"/>
              </a:rPr>
              <a:t>5  AI fusion &amp; deficit handler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buNone/>
            </a:pPr>
            <a:r>
              <a:rPr sz="950" b="0" i="0">
                <a:solidFill>
                  <a:srgbClr val="FFFFFF"/>
                </a:solidFill>
                <a:latin typeface="Arial"/>
              </a:rPr>
              <a:t>Loosely coupled error-state EKF; LSTM learns residual IMU errors. GNSS graded GOOD / DEGRADED / DENIED (HDOP, sat count, C/N0) → mode switch in ms.</a:t>
            </a:r>
          </a:p>
        </p:txBody>
      </p:sp>
      <p:sp>
        <p:nvSpPr>
          <p:cNvPr id="17426" name="Rectangle 17425"/>
          <p:cNvSpPr/>
          <p:nvPr/>
        </p:nvSpPr>
        <p:spPr>
          <a:xfrm>
            <a:off x="320040" y="4206240"/>
            <a:ext cx="5669280" cy="457200"/>
          </a:xfrm>
          <a:prstGeom prst="rect">
            <a:avLst/>
          </a:prstGeom>
          <a:solidFill>
            <a:srgbClr val="F2F5F9"/>
          </a:solidFill>
          <a:ln w="9525">
            <a:solidFill>
              <a:srgbClr val="C9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lnSpc>
                <a:spcPct val="105000"/>
              </a:lnSpc>
              <a:spcAft>
                <a:spcPts val="300"/>
              </a:spcAft>
              <a:buNone/>
            </a:pPr>
            <a:r>
              <a:rPr sz="1100" b="1" i="0">
                <a:solidFill>
                  <a:srgbClr val="1F3864"/>
                </a:solidFill>
                <a:latin typeface="Arial"/>
              </a:rPr>
              <a:t>INPUT  </a:t>
            </a:r>
            <a:r>
              <a:rPr sz="1100" b="0" i="0">
                <a:solidFill>
                  <a:srgbClr val="1A1A1A"/>
                </a:solidFill>
                <a:latin typeface="Arial"/>
              </a:rPr>
              <a:t>phone accelerometer · gyroscope · magnetometer · GNSS (when available) · offline OSM tiles</a:t>
            </a:r>
          </a:p>
        </p:txBody>
      </p:sp>
      <p:sp>
        <p:nvSpPr>
          <p:cNvPr id="17427" name="Rectangle 17426"/>
          <p:cNvSpPr/>
          <p:nvPr/>
        </p:nvSpPr>
        <p:spPr>
          <a:xfrm>
            <a:off x="6080760" y="4206240"/>
            <a:ext cx="5806440" cy="457200"/>
          </a:xfrm>
          <a:prstGeom prst="rect">
            <a:avLst/>
          </a:prstGeom>
          <a:solidFill>
            <a:srgbClr val="F2F5F9"/>
          </a:solidFill>
          <a:ln w="9525">
            <a:solidFill>
              <a:srgbClr val="C9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lnSpc>
                <a:spcPct val="105000"/>
              </a:lnSpc>
              <a:spcAft>
                <a:spcPts val="300"/>
              </a:spcAft>
              <a:buNone/>
            </a:pPr>
            <a:r>
              <a:rPr sz="1100" b="1" i="0">
                <a:solidFill>
                  <a:srgbClr val="1F3864"/>
                </a:solidFill>
                <a:latin typeface="Arial"/>
              </a:rPr>
              <a:t>OUTPUT  </a:t>
            </a:r>
            <a:r>
              <a:rPr sz="1100" b="0" i="0">
                <a:solidFill>
                  <a:srgbClr val="1A1A1A"/>
                </a:solidFill>
                <a:latin typeface="Arial"/>
              </a:rPr>
              <a:t>continuous position, velocity, heading @ 10 Hz + mode flag (GNSS+INS / Degraded / Dead reckoning) → smooth vehicle icon in the app</a:t>
            </a:r>
          </a:p>
        </p:txBody>
      </p:sp>
      <p:sp>
        <p:nvSpPr>
          <p:cNvPr id="17428" name="Rectangle 17427"/>
          <p:cNvSpPr/>
          <p:nvPr/>
        </p:nvSpPr>
        <p:spPr>
          <a:xfrm>
            <a:off x="320040" y="4754880"/>
            <a:ext cx="548640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l">
              <a:lnSpc>
                <a:spcPct val="105000"/>
              </a:lnSpc>
              <a:spcAft>
                <a:spcPts val="300"/>
              </a:spcAft>
              <a:buNone/>
            </a:pPr>
            <a:r>
              <a:rPr sz="1400" b="1" i="0">
                <a:solidFill>
                  <a:srgbClr val="E86A1E"/>
                </a:solidFill>
                <a:latin typeface="Arial"/>
              </a:rPr>
              <a:t>Workflow and current status</a:t>
            </a:r>
          </a:p>
        </p:txBody>
      </p:sp>
      <p:sp>
        <p:nvSpPr>
          <p:cNvPr id="17429" name="Rectangle 17428"/>
          <p:cNvSpPr/>
          <p:nvPr/>
        </p:nvSpPr>
        <p:spPr>
          <a:xfrm>
            <a:off x="320040" y="5047488"/>
            <a:ext cx="7498079" cy="1280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36576" bIns="36576"/>
          <a:lstStyle/>
          <a:p>
            <a:pPr algn="l">
              <a:lnSpc>
                <a:spcPct val="105000"/>
              </a:lnSpc>
              <a:spcAft>
                <a:spcPts val="300"/>
              </a:spcAft>
              <a:buNone/>
            </a:pPr>
            <a:r>
              <a:rPr sz="1100" b="1" i="0">
                <a:solidFill>
                  <a:srgbClr val="1F3864"/>
                </a:solidFill>
                <a:latin typeface="Arial"/>
              </a:rPr>
              <a:t>Phase 1 (desktop, done): </a:t>
            </a:r>
            <a:r>
              <a:rPr sz="1100" b="0" i="0">
                <a:solidFill>
                  <a:srgbClr val="1A1A1A"/>
                </a:solidFill>
                <a:latin typeface="Arial"/>
              </a:rPr>
              <a:t>IO-VNBD loader &amp; synchronisation audit, feature engineering, speed-filter &amp; LSTM training, simulated-blackout evaluation over 369 one-km blackouts, OSM map-matching, browser replay demo.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buNone/>
            </a:pPr>
            <a:r>
              <a:rPr sz="1100" b="1" i="0">
                <a:solidFill>
                  <a:srgbClr val="1F3864"/>
                </a:solidFill>
                <a:latin typeface="Arial"/>
              </a:rPr>
              <a:t>Phase 2 (on-device, working): </a:t>
            </a:r>
            <a:r>
              <a:rPr sz="1100" b="0" i="0">
                <a:solidFill>
                  <a:srgbClr val="1A1A1A"/>
                </a:solidFill>
                <a:latin typeface="Arial"/>
              </a:rPr>
              <a:t>Android app runs alignment, pre-blackout calibration, dead reckoning and OSM map-matching on the phone (unit-tested on synthetic drives; APK in repo), with a simulate-tunnel switch and live drift read-out on GNSS return. Next: on-device ES-EKF fusion, 200 Hz edge build, real tunnel test.</a:t>
            </a:r>
          </a:p>
        </p:txBody>
      </p:sp>
      <p:pic>
        <p:nvPicPr>
          <p:cNvPr id="17430" name="Picture 17429" descr="demo_screensh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9480" y="4754880"/>
            <a:ext cx="276352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00200" y="0"/>
            <a:ext cx="7315200" cy="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18288" rIns="18288" wrap="none"/>
          <a:lstStyle/>
          <a:p>
            <a:pPr algn="ctr"/>
            <a:r>
              <a:rPr lang="en-US" dirty="0" b="1" sz="1400">
                <a:solidFill>
                  <a:srgbClr val="1F3864"/>
                </a:solidFill>
                <a:latin typeface="Arial"/>
              </a:rPr>
              <a:t>KANABI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320040" y="1143000"/>
            <a:ext cx="603504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l">
              <a:lnSpc>
                <a:spcPct val="105000"/>
              </a:lnSpc>
              <a:spcAft>
                <a:spcPts val="300"/>
              </a:spcAft>
              <a:buNone/>
            </a:pPr>
            <a:r>
              <a:rPr sz="1400" b="1" i="0">
                <a:solidFill>
                  <a:srgbClr val="E86A1E"/>
                </a:solidFill>
                <a:latin typeface="Arial"/>
              </a:rPr>
              <a:t>Feasibility: measured on IO-VNBD, smartphone IMU only</a:t>
            </a:r>
          </a:p>
        </p:txBody>
      </p:sp>
      <p:graphicFrame>
        <p:nvGraphicFramePr>
          <p:cNvPr id="17411" name="Table 17410"/>
          <p:cNvGraphicFramePr>
            <a:graphicFrameLocks noGrp="1"/>
          </p:cNvGraphicFramePr>
          <p:nvPr/>
        </p:nvGraphicFramePr>
        <p:xfrm>
          <a:off x="320040" y="1463040"/>
          <a:ext cx="5989320" cy="15544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971800"/>
                <a:gridCol w="1188720"/>
                <a:gridCol w="1828800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Scenario (simulated GNSS blackout on real drives)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PS benchmark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Achieved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50 m blackout, motorway (&lt; 1 min)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&lt; 5 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E8B57"/>
                          </a:solidFill>
                          <a:latin typeface="Arial"/>
                        </a:rPr>
                        <a:t>0.4 m  (0.7 %)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1 km straight, tunnel-like run @ ~100 km/h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&lt; 100 m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E8B57"/>
                          </a:solidFill>
                          <a:latin typeface="Arial"/>
                        </a:rPr>
                        <a:t>7.9 m  (0.8 %)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1 km real roads with turns, map-aided (median of 369)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&lt; 10 %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E8B57"/>
                          </a:solidFill>
                          <a:latin typeface="Arial"/>
                        </a:rPr>
                        <a:t>3.3 % hwy · 4.8–7.0 % urban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Share of 1 km blackouts under 10 % (free DR → map-aided)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E8B57"/>
                          </a:solidFill>
                          <a:latin typeface="Arial"/>
                        </a:rPr>
                        <a:t>17 % → 74 %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pic>
        <p:nvPicPr>
          <p:cNvPr id="17412" name="Picture 17411" descr="blackout_1km_tunn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5" y="3108959"/>
            <a:ext cx="5596128" cy="2331720"/>
          </a:xfrm>
          <a:prstGeom prst="rect">
            <a:avLst/>
          </a:prstGeom>
        </p:spPr>
      </p:pic>
      <p:sp>
        <p:nvSpPr>
          <p:cNvPr id="17413" name="Rectangle 17412"/>
          <p:cNvSpPr/>
          <p:nvPr/>
        </p:nvSpPr>
        <p:spPr>
          <a:xfrm>
            <a:off x="320040" y="5440680"/>
            <a:ext cx="598932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lnSpc>
                <a:spcPct val="105000"/>
              </a:lnSpc>
              <a:spcAft>
                <a:spcPts val="300"/>
              </a:spcAft>
              <a:buNone/>
            </a:pPr>
            <a:r>
              <a:rPr sz="1000" b="0" i="0">
                <a:solidFill>
                  <a:srgbClr val="555F6D"/>
                </a:solidFill>
                <a:latin typeface="Arial"/>
              </a:rPr>
              <a:t>Position plot inferred from an IO-VNBD test drive: 1 km blackout, final drift 7.9 m. Trained within-vehicle (Driver E), tested on held-out drives vfa02 / vtb5 / vw2. Reproducible: python -m src.idr.evaluate / evaluate_mapmatch.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buNone/>
            </a:pPr>
            <a:r>
              <a:rPr sz="1000" b="0" i="0">
                <a:solidFill>
                  <a:srgbClr val="555F6D"/>
                </a:solidFill>
                <a:latin typeface="Arial"/>
              </a:rPr>
              <a:t>Compute: 32 k-parameter CNN + EKF runs comfortably at 10 Hz on a mid-range Android phone; OSM graph for a city fits in a few MB offline.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6537960" y="1143000"/>
            <a:ext cx="53949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l">
              <a:lnSpc>
                <a:spcPct val="105000"/>
              </a:lnSpc>
              <a:spcAft>
                <a:spcPts val="300"/>
              </a:spcAft>
              <a:buNone/>
            </a:pPr>
            <a:r>
              <a:rPr sz="1400" b="1" i="0">
                <a:solidFill>
                  <a:srgbClr val="E86A1E"/>
                </a:solidFill>
                <a:latin typeface="Arial"/>
              </a:rPr>
              <a:t>Challenges, risks and how we handle them</a:t>
            </a:r>
          </a:p>
        </p:txBody>
      </p:sp>
      <p:graphicFrame>
        <p:nvGraphicFramePr>
          <p:cNvPr id="17415" name="Table 17414"/>
          <p:cNvGraphicFramePr>
            <a:graphicFrameLocks noGrp="1"/>
          </p:cNvGraphicFramePr>
          <p:nvPr/>
        </p:nvGraphicFramePr>
        <p:xfrm>
          <a:off x="6537960" y="1463040"/>
          <a:ext cx="5349240" cy="358444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2971800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Challenge / risk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Strategy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Gyro heading drifts 19–28° in 30–60 s → free DR &gt; 10 % beyond ~200 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Map-matching + NHC reset heading on every road edge; ZUPT at stops; magnetometer only as a weak prior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Absolute speed from 10 Hz vibration aliases (&gt; 5 Hz Nyquist)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Anchor to last GNSS speed + learned Δv correction; 100–200 Hz sampling on phone/edge for the filter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Wrong branch at ambiguous junctions (remaining urban misses)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Multi-hypothesis HMM map-matching with gyro-turn likelihood; prune on GNSS return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Phone mount changes / hand-held, two-wheelers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Continuous re-alignment on detected mount change; vehicle-class model heads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Different IMUs (phone vs FOG) and finale datasets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Sensor-agnostic core; calibration stage absorbs bias/scale; same code path for edge engine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On-device latency and battery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Tiny CNN, TFLite int8, 10 Hz loop; heavy training stays on desktop</a:t>
                      </a:r>
                    </a:p>
                  </a:txBody>
                  <a:tcPr marL="54864" marR="54864" marT="27432" marB="27432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17416" name="Rectangle 17415"/>
          <p:cNvSpPr/>
          <p:nvPr/>
        </p:nvSpPr>
        <p:spPr>
          <a:xfrm>
            <a:off x="6537960" y="5120640"/>
            <a:ext cx="5349240" cy="11887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lnSpc>
                <a:spcPct val="105000"/>
              </a:lnSpc>
              <a:spcAft>
                <a:spcPts val="200"/>
              </a:spcAft>
              <a:buNone/>
            </a:pPr>
            <a:r>
              <a:rPr sz="1200" b="1" i="0">
                <a:solidFill>
                  <a:srgbClr val="1F3864"/>
                </a:solidFill>
                <a:latin typeface="Arial"/>
              </a:rPr>
              <a:t>Viability</a:t>
            </a:r>
          </a:p>
          <a:p>
            <a:pPr algn="l" marL="228600" indent="-228600">
              <a:lnSpc>
                <a:spcPct val="105000"/>
              </a:lnSpc>
              <a:spcAft>
                <a:spcPts val="200"/>
              </a:spcAft>
              <a:buFont typeface="Arial"/>
              <a:buChar char="•"/>
            </a:pPr>
            <a:r>
              <a:rPr sz="1050" b="0" i="0">
                <a:solidFill>
                  <a:srgbClr val="1A1A1A"/>
                </a:solidFill>
                <a:latin typeface="Arial"/>
              </a:rPr>
              <a:t>Zero hardware cost: runs on phones already on every dashboard; no OBD dongle, no vehicle integration.</a:t>
            </a:r>
          </a:p>
          <a:p>
            <a:pPr algn="l" marL="228600" indent="-228600">
              <a:lnSpc>
                <a:spcPct val="105000"/>
              </a:lnSpc>
              <a:spcAft>
                <a:spcPts val="200"/>
              </a:spcAft>
              <a:buFont typeface="Arial"/>
              <a:buChar char="•"/>
            </a:pPr>
            <a:r>
              <a:rPr sz="1050" b="0" i="0">
                <a:solidFill>
                  <a:srgbClr val="1A1A1A"/>
                </a:solidFill>
                <a:latin typeface="Arial"/>
              </a:rPr>
              <a:t>Open data (IO-VNBD) + open maps (OSM) → no licensing barrier; models retrain as finale datasets arrive.</a:t>
            </a:r>
          </a:p>
          <a:p>
            <a:pPr algn="l" marL="228600" indent="-228600">
              <a:lnSpc>
                <a:spcPct val="105000"/>
              </a:lnSpc>
              <a:spcAft>
                <a:spcPts val="200"/>
              </a:spcAft>
              <a:buFont typeface="Arial"/>
              <a:buChar char="•"/>
            </a:pPr>
            <a:r>
              <a:rPr sz="1050" b="0" i="0">
                <a:solidFill>
                  <a:srgbClr val="1A1A1A"/>
                </a:solidFill>
                <a:latin typeface="Arial"/>
              </a:rPr>
              <a:t>Working repo, reproducible pipeline, replay demo and Android APK already exist.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00200" y="0"/>
            <a:ext cx="7315200" cy="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18288" rIns="18288" wrap="none"/>
          <a:lstStyle/>
          <a:p>
            <a:pPr algn="ctr"/>
            <a:r>
              <a:rPr lang="en-US" dirty="0" b="1" sz="1400">
                <a:solidFill>
                  <a:srgbClr val="1F3864"/>
                </a:solidFill>
                <a:latin typeface="Arial"/>
              </a:rPr>
              <a:t>KANABI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320040" y="1143000"/>
            <a:ext cx="58521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l">
              <a:lnSpc>
                <a:spcPct val="105000"/>
              </a:lnSpc>
              <a:spcAft>
                <a:spcPts val="300"/>
              </a:spcAft>
              <a:buNone/>
            </a:pPr>
            <a:r>
              <a:rPr sz="1400" b="1" i="0">
                <a:solidFill>
                  <a:srgbClr val="E86A1E"/>
                </a:solidFill>
                <a:latin typeface="Arial"/>
              </a:rPr>
              <a:t>Who it helps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20040" y="1463040"/>
            <a:ext cx="5852160" cy="713232"/>
          </a:xfrm>
          <a:prstGeom prst="roundRect">
            <a:avLst>
              <a:gd name="adj" fmla="val 10000"/>
            </a:avLst>
          </a:prstGeom>
          <a:solidFill>
            <a:srgbClr val="F2F5F9"/>
          </a:solidFill>
          <a:ln w="9525">
            <a:solidFill>
              <a:srgbClr val="C9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>
              <a:lnSpc>
                <a:spcPct val="105000"/>
              </a:lnSpc>
              <a:spcAft>
                <a:spcPts val="100"/>
              </a:spcAft>
              <a:buNone/>
            </a:pPr>
            <a:r>
              <a:rPr sz="1150" b="1" i="0">
                <a:solidFill>
                  <a:srgbClr val="1F3864"/>
                </a:solidFill>
                <a:latin typeface="Arial"/>
              </a:rPr>
              <a:t>Delivery &amp; ride-hailing riders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buNone/>
            </a:pPr>
            <a:r>
              <a:rPr sz="1050" b="0" i="0">
                <a:solidFill>
                  <a:srgbClr val="1A1A1A"/>
                </a:solidFill>
                <a:latin typeface="Arial"/>
              </a:rPr>
              <a:t>Two-wheelers and cabs with only a phone: no frozen map in flyovers, underpasses and metro tunnels.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20040" y="2249424"/>
            <a:ext cx="5852160" cy="713232"/>
          </a:xfrm>
          <a:prstGeom prst="roundRect">
            <a:avLst>
              <a:gd name="adj" fmla="val 10000"/>
            </a:avLst>
          </a:prstGeom>
          <a:solidFill>
            <a:srgbClr val="F2F5F9"/>
          </a:solidFill>
          <a:ln w="9525">
            <a:solidFill>
              <a:srgbClr val="C9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>
              <a:lnSpc>
                <a:spcPct val="105000"/>
              </a:lnSpc>
              <a:spcAft>
                <a:spcPts val="100"/>
              </a:spcAft>
              <a:buNone/>
            </a:pPr>
            <a:r>
              <a:rPr sz="1150" b="1" i="0">
                <a:solidFill>
                  <a:srgbClr val="1F3864"/>
                </a:solidFill>
                <a:latin typeface="Arial"/>
              </a:rPr>
              <a:t>Trucks, fleets &amp; older cars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buNone/>
            </a:pPr>
            <a:r>
              <a:rPr sz="1050" b="0" i="0">
                <a:solidFill>
                  <a:srgbClr val="1A1A1A"/>
                </a:solidFill>
                <a:latin typeface="Arial"/>
              </a:rPr>
              <a:t>Vehicles without factory INS or OBD feed get continuous tracking and correct turn-by-turn guidance.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20040" y="3035808"/>
            <a:ext cx="5852160" cy="713232"/>
          </a:xfrm>
          <a:prstGeom prst="roundRect">
            <a:avLst>
              <a:gd name="adj" fmla="val 10000"/>
            </a:avLst>
          </a:prstGeom>
          <a:solidFill>
            <a:srgbClr val="F2F5F9"/>
          </a:solidFill>
          <a:ln w="9525">
            <a:solidFill>
              <a:srgbClr val="C9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>
              <a:lnSpc>
                <a:spcPct val="105000"/>
              </a:lnSpc>
              <a:spcAft>
                <a:spcPts val="100"/>
              </a:spcAft>
              <a:buNone/>
            </a:pPr>
            <a:r>
              <a:rPr sz="1150" b="1" i="0">
                <a:solidFill>
                  <a:srgbClr val="1F3864"/>
                </a:solidFill>
                <a:latin typeface="Arial"/>
              </a:rPr>
              <a:t>Emergency responders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buNone/>
            </a:pPr>
            <a:r>
              <a:rPr sz="1050" b="0" i="0">
                <a:solidFill>
                  <a:srgbClr val="1A1A1A"/>
                </a:solidFill>
                <a:latin typeface="Arial"/>
              </a:rPr>
              <a:t>Ambulances and fire units keep position in parking decks and canyons where seconds matter.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20040" y="3822191"/>
            <a:ext cx="5852160" cy="713232"/>
          </a:xfrm>
          <a:prstGeom prst="roundRect">
            <a:avLst>
              <a:gd name="adj" fmla="val 10000"/>
            </a:avLst>
          </a:prstGeom>
          <a:solidFill>
            <a:srgbClr val="F2F5F9"/>
          </a:solidFill>
          <a:ln w="9525">
            <a:solidFill>
              <a:srgbClr val="C9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>
              <a:lnSpc>
                <a:spcPct val="105000"/>
              </a:lnSpc>
              <a:spcAft>
                <a:spcPts val="100"/>
              </a:spcAft>
              <a:buNone/>
            </a:pPr>
            <a:r>
              <a:rPr sz="1150" b="1" i="0">
                <a:solidFill>
                  <a:srgbClr val="1F3864"/>
                </a:solidFill>
                <a:latin typeface="Arial"/>
              </a:rPr>
              <a:t>Navigation &amp; telematics apps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buNone/>
            </a:pPr>
            <a:r>
              <a:rPr sz="1050" b="0" i="0">
                <a:solidFill>
                  <a:srgbClr val="1A1A1A"/>
                </a:solidFill>
                <a:latin typeface="Arial"/>
              </a:rPr>
              <a:t>Drop-in engine for MapmyIndia / fleet SDKs; edge engine for ISRO, defence and rail use with FOG IMUs.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320040" y="4645152"/>
            <a:ext cx="58521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l">
              <a:lnSpc>
                <a:spcPct val="105000"/>
              </a:lnSpc>
              <a:spcAft>
                <a:spcPts val="300"/>
              </a:spcAft>
              <a:buNone/>
            </a:pPr>
            <a:r>
              <a:rPr sz="1400" b="1" i="0">
                <a:solidFill>
                  <a:srgbClr val="E86A1E"/>
                </a:solidFill>
                <a:latin typeface="Arial"/>
              </a:rPr>
              <a:t>Benchmark the judges set vs. what we already measure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320040" y="4956048"/>
            <a:ext cx="1389888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5000"/>
              </a:lnSpc>
              <a:spcAft>
                <a:spcPts val="200"/>
              </a:spcAft>
              <a:buNone/>
            </a:pPr>
            <a:r>
              <a:rPr sz="2000" b="1" i="0">
                <a:solidFill>
                  <a:srgbClr val="1F3864"/>
                </a:solidFill>
                <a:latin typeface="Arial"/>
              </a:rPr>
              <a:t>&lt; 10 %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  <a:buNone/>
            </a:pPr>
            <a:r>
              <a:rPr sz="950" b="0" i="0">
                <a:solidFill>
                  <a:srgbClr val="555F6D"/>
                </a:solidFill>
                <a:latin typeface="Arial"/>
              </a:rPr>
              <a:t>PS target drift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1810512" y="4956048"/>
            <a:ext cx="1389888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5000"/>
              </a:lnSpc>
              <a:spcAft>
                <a:spcPts val="200"/>
              </a:spcAft>
              <a:buNone/>
            </a:pPr>
            <a:r>
              <a:rPr sz="2000" b="1" i="0">
                <a:solidFill>
                  <a:srgbClr val="2E8B57"/>
                </a:solidFill>
                <a:latin typeface="Arial"/>
              </a:rPr>
              <a:t>0.7 %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  <a:buNone/>
            </a:pPr>
            <a:r>
              <a:rPr sz="950" b="0" i="0">
                <a:solidFill>
                  <a:srgbClr val="555F6D"/>
                </a:solidFill>
                <a:latin typeface="Arial"/>
              </a:rPr>
              <a:t>50 m blackout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300984" y="4956048"/>
            <a:ext cx="1389888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5000"/>
              </a:lnSpc>
              <a:spcAft>
                <a:spcPts val="200"/>
              </a:spcAft>
              <a:buNone/>
            </a:pPr>
            <a:r>
              <a:rPr sz="2000" b="1" i="0">
                <a:solidFill>
                  <a:srgbClr val="2E8B57"/>
                </a:solidFill>
                <a:latin typeface="Arial"/>
              </a:rPr>
              <a:t>0.8 %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  <a:buNone/>
            </a:pPr>
            <a:r>
              <a:rPr sz="950" b="0" i="0">
                <a:solidFill>
                  <a:srgbClr val="555F6D"/>
                </a:solidFill>
                <a:latin typeface="Arial"/>
              </a:rPr>
              <a:t>1 km tunnel run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4791456" y="4956048"/>
            <a:ext cx="1389888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5000"/>
              </a:lnSpc>
              <a:spcAft>
                <a:spcPts val="200"/>
              </a:spcAft>
              <a:buNone/>
            </a:pPr>
            <a:r>
              <a:rPr sz="2000" b="1" i="0">
                <a:solidFill>
                  <a:srgbClr val="2E8B57"/>
                </a:solidFill>
                <a:latin typeface="Arial"/>
              </a:rPr>
              <a:t>3.3–7 %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  <a:buNone/>
            </a:pPr>
            <a:r>
              <a:rPr sz="950" b="0" i="0">
                <a:solidFill>
                  <a:srgbClr val="555F6D"/>
                </a:solidFill>
                <a:latin typeface="Arial"/>
              </a:rPr>
              <a:t>1 km real roads (median)</a:t>
            </a:r>
          </a:p>
        </p:txBody>
      </p:sp>
      <p:sp>
        <p:nvSpPr>
          <p:cNvPr id="17420" name="Rectangle 17419"/>
          <p:cNvSpPr/>
          <p:nvPr/>
        </p:nvSpPr>
        <p:spPr>
          <a:xfrm>
            <a:off x="6400800" y="1143000"/>
            <a:ext cx="548640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l">
              <a:lnSpc>
                <a:spcPct val="105000"/>
              </a:lnSpc>
              <a:spcAft>
                <a:spcPts val="300"/>
              </a:spcAft>
              <a:buNone/>
            </a:pPr>
            <a:r>
              <a:rPr sz="1400" b="1" i="0">
                <a:solidFill>
                  <a:srgbClr val="E86A1E"/>
                </a:solidFill>
                <a:latin typeface="Arial"/>
              </a:rPr>
              <a:t>Benefits</a:t>
            </a:r>
          </a:p>
        </p:txBody>
      </p:sp>
      <p:sp>
        <p:nvSpPr>
          <p:cNvPr id="17421" name="Rectangle 17420"/>
          <p:cNvSpPr/>
          <p:nvPr/>
        </p:nvSpPr>
        <p:spPr>
          <a:xfrm>
            <a:off x="6400800" y="1463040"/>
            <a:ext cx="5486400" cy="7132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lnSpc>
                <a:spcPct val="105000"/>
              </a:lnSpc>
              <a:spcAft>
                <a:spcPts val="100"/>
              </a:spcAft>
              <a:buNone/>
            </a:pPr>
            <a:r>
              <a:rPr sz="1150" b="1" i="0">
                <a:solidFill>
                  <a:srgbClr val="E86A1E"/>
                </a:solidFill>
                <a:latin typeface="Arial"/>
              </a:rPr>
              <a:t>Social / safety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buNone/>
            </a:pPr>
            <a:r>
              <a:rPr sz="1050" b="0" i="0">
                <a:solidFill>
                  <a:srgbClr val="1A1A1A"/>
                </a:solidFill>
                <a:latin typeface="Arial"/>
              </a:rPr>
              <a:t>No missed exits or erratic jumps in tunnels; safer lane guidance for two-wheelers; reliable emergency response in GNSS-denied places.</a:t>
            </a:r>
          </a:p>
        </p:txBody>
      </p:sp>
      <p:sp>
        <p:nvSpPr>
          <p:cNvPr id="17422" name="Rectangle 17421"/>
          <p:cNvSpPr/>
          <p:nvPr/>
        </p:nvSpPr>
        <p:spPr>
          <a:xfrm>
            <a:off x="6400800" y="2231136"/>
            <a:ext cx="5486400" cy="7132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lnSpc>
                <a:spcPct val="105000"/>
              </a:lnSpc>
              <a:spcAft>
                <a:spcPts val="100"/>
              </a:spcAft>
              <a:buNone/>
            </a:pPr>
            <a:r>
              <a:rPr sz="1150" b="1" i="0">
                <a:solidFill>
                  <a:srgbClr val="E86A1E"/>
                </a:solidFill>
                <a:latin typeface="Arial"/>
              </a:rPr>
              <a:t>Economic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buNone/>
            </a:pPr>
            <a:r>
              <a:rPr sz="1050" b="0" i="0">
                <a:solidFill>
                  <a:srgbClr val="1A1A1A"/>
                </a:solidFill>
                <a:latin typeface="Arial"/>
              </a:rPr>
              <a:t>Zero added hardware; fewer failed deliveries and detours; one engine for millions of existing phones and fleet devices.</a:t>
            </a:r>
          </a:p>
        </p:txBody>
      </p:sp>
      <p:sp>
        <p:nvSpPr>
          <p:cNvPr id="17423" name="Rectangle 17422"/>
          <p:cNvSpPr/>
          <p:nvPr/>
        </p:nvSpPr>
        <p:spPr>
          <a:xfrm>
            <a:off x="6400800" y="2999232"/>
            <a:ext cx="5486400" cy="7132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lnSpc>
                <a:spcPct val="105000"/>
              </a:lnSpc>
              <a:spcAft>
                <a:spcPts val="100"/>
              </a:spcAft>
              <a:buNone/>
            </a:pPr>
            <a:r>
              <a:rPr sz="1150" b="1" i="0">
                <a:solidFill>
                  <a:srgbClr val="E86A1E"/>
                </a:solidFill>
                <a:latin typeface="Arial"/>
              </a:rPr>
              <a:t>Environmental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buNone/>
            </a:pPr>
            <a:r>
              <a:rPr sz="1050" b="0" i="0">
                <a:solidFill>
                  <a:srgbClr val="1A1A1A"/>
                </a:solidFill>
                <a:latin typeface="Arial"/>
              </a:rPr>
              <a:t>Fewer wrong turns and re-routing loops → less fuel and emissions per trip.</a:t>
            </a:r>
          </a:p>
        </p:txBody>
      </p:sp>
      <p:sp>
        <p:nvSpPr>
          <p:cNvPr id="17424" name="Rectangle 17423"/>
          <p:cNvSpPr/>
          <p:nvPr/>
        </p:nvSpPr>
        <p:spPr>
          <a:xfrm>
            <a:off x="6400800" y="3767328"/>
            <a:ext cx="5486400" cy="7132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lnSpc>
                <a:spcPct val="105000"/>
              </a:lnSpc>
              <a:spcAft>
                <a:spcPts val="100"/>
              </a:spcAft>
              <a:buNone/>
            </a:pPr>
            <a:r>
              <a:rPr sz="1150" b="1" i="0">
                <a:solidFill>
                  <a:srgbClr val="E86A1E"/>
                </a:solidFill>
                <a:latin typeface="Arial"/>
              </a:rPr>
              <a:t>Strategic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buNone/>
            </a:pPr>
            <a:r>
              <a:rPr sz="1050" b="0" i="0">
                <a:solidFill>
                  <a:srgbClr val="1A1A1A"/>
                </a:solidFill>
                <a:latin typeface="Arial"/>
              </a:rPr>
              <a:t>Resilience against jamming/spoofing and signal loss; complements NavIC; same AI core deploys on edge hardware for space, defence and rail.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6400800" y="4553712"/>
            <a:ext cx="5486400" cy="173736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C9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6" name="Picture 17425" descr="demo_screensh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620577"/>
            <a:ext cx="2834640" cy="1594485"/>
          </a:xfrm>
          <a:prstGeom prst="rect">
            <a:avLst/>
          </a:prstGeom>
        </p:spPr>
      </p:pic>
      <p:sp>
        <p:nvSpPr>
          <p:cNvPr id="17427" name="Rectangle 17426"/>
          <p:cNvSpPr/>
          <p:nvPr/>
        </p:nvSpPr>
        <p:spPr>
          <a:xfrm>
            <a:off x="9372600" y="4617720"/>
            <a:ext cx="2468880" cy="16276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lnSpc>
                <a:spcPct val="105000"/>
              </a:lnSpc>
              <a:spcAft>
                <a:spcPts val="300"/>
              </a:spcAft>
              <a:buNone/>
            </a:pPr>
            <a:r>
              <a:rPr sz="1100" b="1" i="0">
                <a:solidFill>
                  <a:srgbClr val="1F3864"/>
                </a:solidFill>
                <a:latin typeface="Arial"/>
              </a:rPr>
              <a:t>Live replay demo + Android app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buNone/>
            </a:pPr>
            <a:r>
              <a:rPr sz="950" b="0" i="0">
                <a:solidFill>
                  <a:srgbClr val="1A1A1A"/>
                </a:solidFill>
                <a:latin typeface="Arial"/>
              </a:rPr>
              <a:t>Real IO-VNBD drive through a 1 km blackout: plain IMU 942 m off, IDR + map-matching 7 m. App shows a smooth vehicle icon with an unmistakable GNSS / Dead-reckoning banner.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00200" y="0"/>
            <a:ext cx="7315200" cy="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18288" rIns="18288" wrap="none"/>
          <a:lstStyle/>
          <a:p>
            <a:pPr algn="ctr"/>
            <a:r>
              <a:rPr lang="en-US" dirty="0" b="1" sz="1400">
                <a:solidFill>
                  <a:srgbClr val="1F3864"/>
                </a:solidFill>
                <a:latin typeface="Arial"/>
              </a:rPr>
              <a:t>KANABI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320040" y="1143000"/>
            <a:ext cx="640080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l">
              <a:lnSpc>
                <a:spcPct val="105000"/>
              </a:lnSpc>
              <a:spcAft>
                <a:spcPts val="300"/>
              </a:spcAft>
              <a:buNone/>
            </a:pPr>
            <a:r>
              <a:rPr sz="1400" b="1" i="0">
                <a:solidFill>
                  <a:srgbClr val="E86A1E"/>
                </a:solidFill>
                <a:latin typeface="Arial"/>
              </a:rPr>
              <a:t>Our work (open for review)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320040" y="1463040"/>
            <a:ext cx="6400800" cy="1417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 marL="228600" indent="-228600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sz="1150" b="1" i="0">
                <a:solidFill>
                  <a:srgbClr val="1F3864"/>
                </a:solidFill>
                <a:latin typeface="Arial"/>
              </a:rPr>
              <a:t>Code, models, results: </a:t>
            </a:r>
            <a:r>
              <a:rPr sz="1150" b="0" i="0">
                <a:solidFill>
                  <a:srgbClr val="1F3864"/>
                </a:solidFill>
                <a:latin typeface="Arial"/>
              </a:rPr>
              <a:t>https://github.com/AnushtupGhosh5/sih</a:t>
            </a:r>
          </a:p>
          <a:p>
            <a:pPr algn="l" marL="228600" indent="-228600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Reproducible pipeline (requirements.txt / Docker): IO-VNBD loader → speed filter training → blackout evaluation → map-matching → figures; RESULTS.md holds every number on this deck.</a:t>
            </a:r>
          </a:p>
          <a:p>
            <a:pPr algn="l" marL="228600" indent="-228600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Browser replay demo (demo/index.html) and Android APK (mobile_app/ui) included in the repository.</a:t>
            </a:r>
          </a:p>
        </p:txBody>
      </p:sp>
      <p:sp>
        <p:nvSpPr>
          <p:cNvPr id="17412" name="Rectangle 17411"/>
          <p:cNvSpPr/>
          <p:nvPr/>
        </p:nvSpPr>
        <p:spPr>
          <a:xfrm>
            <a:off x="320040" y="2926080"/>
            <a:ext cx="640080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l">
              <a:lnSpc>
                <a:spcPct val="105000"/>
              </a:lnSpc>
              <a:spcAft>
                <a:spcPts val="300"/>
              </a:spcAft>
              <a:buNone/>
            </a:pPr>
            <a:r>
              <a:rPr sz="1400" b="1" i="0">
                <a:solidFill>
                  <a:srgbClr val="E86A1E"/>
                </a:solidFill>
                <a:latin typeface="Arial"/>
              </a:rPr>
              <a:t>References</a:t>
            </a:r>
          </a:p>
        </p:txBody>
      </p:sp>
      <p:sp>
        <p:nvSpPr>
          <p:cNvPr id="17413" name="Rectangle 17412"/>
          <p:cNvSpPr/>
          <p:nvPr/>
        </p:nvSpPr>
        <p:spPr>
          <a:xfrm>
            <a:off x="320040" y="3218688"/>
            <a:ext cx="6400800" cy="3108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 marL="228600" indent="-228600">
              <a:lnSpc>
                <a:spcPct val="105000"/>
              </a:lnSpc>
              <a:spcAft>
                <a:spcPts val="300"/>
              </a:spcAft>
              <a:buFont typeface="Arial"/>
              <a:buChar char="▪"/>
            </a:pPr>
            <a:r>
              <a:rPr sz="1000" b="0" i="0">
                <a:solidFill>
                  <a:srgbClr val="1A1A1A"/>
                </a:solidFill>
                <a:latin typeface="Arial"/>
              </a:rPr>
              <a:t>Onyekpe U., Palade V., Kanarachos S., et al. “IO-VNBD: Inertial and Odometry benchmark dataset for ground vehicle positioning.” Data in Brief, 2021. github.com/onyekpeu/IO-VNBD</a:t>
            </a:r>
          </a:p>
          <a:p>
            <a:pPr algn="l" marL="228600" indent="-228600">
              <a:lnSpc>
                <a:spcPct val="105000"/>
              </a:lnSpc>
              <a:spcAft>
                <a:spcPts val="300"/>
              </a:spcAft>
              <a:buFont typeface="Arial"/>
              <a:buChar char="▪"/>
            </a:pPr>
            <a:r>
              <a:rPr sz="1000" b="0" i="0">
                <a:solidFill>
                  <a:srgbClr val="1A1A1A"/>
                </a:solidFill>
                <a:latin typeface="Arial"/>
              </a:rPr>
              <a:t>Newson P., Krumm J. “Hidden Markov Map Matching Through Noise and Sparseness.” ACM SIGSPATIAL GIS, 2009.</a:t>
            </a:r>
          </a:p>
          <a:p>
            <a:pPr algn="l" marL="228600" indent="-228600">
              <a:lnSpc>
                <a:spcPct val="105000"/>
              </a:lnSpc>
              <a:spcAft>
                <a:spcPts val="300"/>
              </a:spcAft>
              <a:buFont typeface="Arial"/>
              <a:buChar char="▪"/>
            </a:pPr>
            <a:r>
              <a:rPr sz="1000" b="0" i="0">
                <a:solidFill>
                  <a:srgbClr val="1A1A1A"/>
                </a:solidFill>
                <a:latin typeface="Arial"/>
              </a:rPr>
              <a:t>Brossard M., Barrau A., Bonnabel S. “AI-IMU Dead-Reckoning.” IEEE Trans. Intelligent Vehicles, 2020.</a:t>
            </a:r>
          </a:p>
          <a:p>
            <a:pPr algn="l" marL="228600" indent="-228600">
              <a:lnSpc>
                <a:spcPct val="105000"/>
              </a:lnSpc>
              <a:spcAft>
                <a:spcPts val="300"/>
              </a:spcAft>
              <a:buFont typeface="Arial"/>
              <a:buChar char="▪"/>
            </a:pPr>
            <a:r>
              <a:rPr sz="1000" b="0" i="0">
                <a:solidFill>
                  <a:srgbClr val="1A1A1A"/>
                </a:solidFill>
                <a:latin typeface="Arial"/>
              </a:rPr>
              <a:t>Herath S., Yan H., Furukawa Y. “RoNIN: Robust Neural Inertial Navigation in the Wild.” ICRA, 2020.</a:t>
            </a:r>
          </a:p>
          <a:p>
            <a:pPr algn="l" marL="228600" indent="-228600">
              <a:lnSpc>
                <a:spcPct val="105000"/>
              </a:lnSpc>
              <a:spcAft>
                <a:spcPts val="300"/>
              </a:spcAft>
              <a:buFont typeface="Arial"/>
              <a:buChar char="▪"/>
            </a:pPr>
            <a:r>
              <a:rPr sz="1000" b="0" i="0">
                <a:solidFill>
                  <a:srgbClr val="1A1A1A"/>
                </a:solidFill>
                <a:latin typeface="Arial"/>
              </a:rPr>
              <a:t>Solà J. “Quaternion kinematics for the error-state Kalman filter.” arXiv:1711.02508, 2017.</a:t>
            </a:r>
          </a:p>
          <a:p>
            <a:pPr algn="l" marL="228600" indent="-228600">
              <a:lnSpc>
                <a:spcPct val="105000"/>
              </a:lnSpc>
              <a:spcAft>
                <a:spcPts val="300"/>
              </a:spcAft>
              <a:buFont typeface="Arial"/>
              <a:buChar char="▪"/>
            </a:pPr>
            <a:r>
              <a:rPr sz="1000" b="0" i="0">
                <a:solidFill>
                  <a:srgbClr val="1A1A1A"/>
                </a:solidFill>
                <a:latin typeface="Arial"/>
              </a:rPr>
              <a:t>Groves P. D. Principles of GNSS, Inertial, and Multisensor Integrated Navigation Systems, 2nd ed., Artech House, 2013 (NHC, ZUPT, loosely coupled INS/GNSS).</a:t>
            </a:r>
          </a:p>
          <a:p>
            <a:pPr algn="l" marL="228600" indent="-228600">
              <a:lnSpc>
                <a:spcPct val="105000"/>
              </a:lnSpc>
              <a:spcAft>
                <a:spcPts val="300"/>
              </a:spcAft>
              <a:buFont typeface="Arial"/>
              <a:buChar char="▪"/>
            </a:pPr>
            <a:r>
              <a:rPr sz="1000" b="0" i="0">
                <a:solidFill>
                  <a:srgbClr val="1A1A1A"/>
                </a:solidFill>
                <a:latin typeface="Arial"/>
              </a:rPr>
              <a:t>OpenStreetMap contributors, openstreetmap.org; Boeing G. “OSMnx” (Computers, Environment and Urban Systems, 2017).</a:t>
            </a:r>
          </a:p>
          <a:p>
            <a:pPr algn="l" marL="228600" indent="-228600">
              <a:lnSpc>
                <a:spcPct val="105000"/>
              </a:lnSpc>
              <a:spcAft>
                <a:spcPts val="300"/>
              </a:spcAft>
              <a:buFont typeface="Arial"/>
              <a:buChar char="▪"/>
            </a:pPr>
            <a:r>
              <a:rPr sz="1000" b="0" i="0">
                <a:solidFill>
                  <a:srgbClr val="1A1A1A"/>
                </a:solidFill>
                <a:latin typeface="Arial"/>
              </a:rPr>
              <a:t>TensorFlow Lite / ONNX Runtime documentation for on-device inference.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6995160" y="1143000"/>
            <a:ext cx="49377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l">
              <a:lnSpc>
                <a:spcPct val="105000"/>
              </a:lnSpc>
              <a:spcAft>
                <a:spcPts val="300"/>
              </a:spcAft>
              <a:buNone/>
            </a:pPr>
            <a:r>
              <a:rPr sz="1400" b="1" i="0">
                <a:solidFill>
                  <a:srgbClr val="E86A1E"/>
                </a:solidFill>
                <a:latin typeface="Arial"/>
              </a:rPr>
              <a:t>Key findings from our IO-VNBD study</a:t>
            </a:r>
          </a:p>
        </p:txBody>
      </p:sp>
      <p:pic>
        <p:nvPicPr>
          <p:cNvPr id="17415" name="Picture 17414" descr="drift_vs_dist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463039"/>
            <a:ext cx="4389120" cy="2743200"/>
          </a:xfrm>
          <a:prstGeom prst="rect">
            <a:avLst/>
          </a:prstGeom>
        </p:spPr>
      </p:pic>
      <p:sp>
        <p:nvSpPr>
          <p:cNvPr id="17416" name="Rectangle 17415"/>
          <p:cNvSpPr/>
          <p:nvPr/>
        </p:nvSpPr>
        <p:spPr>
          <a:xfrm>
            <a:off x="6995160" y="4224528"/>
            <a:ext cx="4937760" cy="2103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 marL="228600" indent="-228600">
              <a:lnSpc>
                <a:spcPct val="105000"/>
              </a:lnSpc>
              <a:spcAft>
                <a:spcPts val="300"/>
              </a:spcAft>
              <a:buFont typeface="Arial"/>
              <a:buChar char="•"/>
            </a:pPr>
            <a:r>
              <a:rPr sz="1050" b="0" i="0">
                <a:solidFill>
                  <a:srgbClr val="1A1A1A"/>
                </a:solidFill>
                <a:latin typeface="Arial"/>
              </a:rPr>
              <a:t>Inertial-only phone DR stays under 10 % only to ~150–200 m; map constraints extend this to 1 km (median 29.3 % → 3.3–7.0 %).</a:t>
            </a:r>
          </a:p>
          <a:p>
            <a:pPr algn="l" marL="228600" indent="-228600">
              <a:lnSpc>
                <a:spcPct val="105000"/>
              </a:lnSpc>
              <a:spcAft>
                <a:spcPts val="300"/>
              </a:spcAft>
              <a:buFont typeface="Arial"/>
              <a:buChar char="•"/>
            </a:pPr>
            <a:r>
              <a:rPr sz="1050" b="0" i="0">
                <a:solidFill>
                  <a:srgbClr val="1A1A1A"/>
                </a:solidFill>
                <a:latin typeface="Arial"/>
              </a:rPr>
              <a:t>Holding the last GNSS speed is within 1–2 % of oracle speed over a tunnel; gyro heading, not speed, dominates error.</a:t>
            </a:r>
          </a:p>
          <a:p>
            <a:pPr algn="l" marL="228600" indent="-228600">
              <a:lnSpc>
                <a:spcPct val="105000"/>
              </a:lnSpc>
              <a:spcAft>
                <a:spcPts val="300"/>
              </a:spcAft>
              <a:buFont typeface="Arial"/>
              <a:buChar char="•"/>
            </a:pPr>
            <a:r>
              <a:rPr sz="1050" b="0" i="0">
                <a:solidFill>
                  <a:srgbClr val="1A1A1A"/>
                </a:solidFill>
                <a:latin typeface="Arial"/>
              </a:rPr>
              <a:t>Inertial alignment of the dataset (phone vs ECU, 20 sessions) raised Δv correlation from 0.08 to 0.31, proving recoverable motion information in the phone IMU.</a:t>
            </a:r>
          </a:p>
          <a:p>
            <a:pPr algn="l" marL="228600" indent="-228600">
              <a:lnSpc>
                <a:spcPct val="105000"/>
              </a:lnSpc>
              <a:spcAft>
                <a:spcPts val="300"/>
              </a:spcAft>
              <a:buFont typeface="Arial"/>
              <a:buChar char="•"/>
            </a:pPr>
            <a:r>
              <a:rPr sz="1050" b="0" i="0">
                <a:solidFill>
                  <a:srgbClr val="1A1A1A"/>
                </a:solidFill>
                <a:latin typeface="Arial"/>
              </a:rPr>
              <a:t>Dataset audit found and fixed a gyro/gravity axis-matching bug that corrupts heading in naive loaders.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